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Today I'm presenting the project report for our 100-strain bacterial reference catalog. As the data analyst on this project, I developed the codebase and data mining pipeline from initial prototype to a production 37-column dataset for training our disease biosensor. In this presentation, I'll walk through our code development history on GitHub, our technical data engineering architecture, and key microbiological findings.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on Slide 2, I've highlighted our major code updates and GitHub commits: We started with version 1.0, building a baseline scraper in Python using BeautifulSoup and urllib, and performing trial extractions on single-strain files. In version 2.0, I upgraded to atcc_scraper_Comp.py, expanding output schema to 37 columns and adding ThreadPoolExecutor multithreading with local disk caching to prevent rate-limiting. In version 2.5, I converted raw GenBank text into direct clickable NCBI accession URLs. Finally, in version 3.0, we scaled the pipeline up to handle 148+ strain entries for the 200 Bug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Zooming into technical feature highlights on Slide 3: my parallel web scraper uses disk caching to maintain sub-second re-run performance. A major engineering achievement was taxonomic entity resolution: automatically resolving missing 'NBF' entries to primary reference ATCC catalog numbers—such as mapping Staphylococcus aureus to ATCC 25923—which reduced dataset catalog ambiguity from 22% down to 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our domain findings on Slide 4: we mapped isolation origins across three main ecological groups: clinical human specimens like blood and sputum for pathogens like Staphylococcus aureus; veterinary host samples like Rhodococcus equi from foal lung abscesses; and environmental wastewater samples like Corynebacterium glutamicum. Categorizing these origins is crucial for sensor data analysis because it helps us model background sample matrix noise—such as blood versus environmental water—preventing false-positive signals during field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on Slide 5 covering growth parameters and biosafety: we extracted incubation temperatures, media formulations, and gaseous atmospheres across all 100 strains. Clinical pathogens cluster at 37°C while environmental strains grow at 30°C, primarily using Trypticase Soy Agar or Brain Heart Infusion broth. Every strain is also categorized by Biosafety Level—BSL-1 versus BSL-2—and paired with direct REST API links for official Safety Data Sheets for instant lab safety access.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9966960" cy="2743200"/>
          </a:xfrm>
          <a:prstGeom prst="rect">
            <a:avLst/>
          </a:prstGeom>
          <a:noFill/>
        </p:spPr>
        <p:txBody>
          <a:bodyPr wrap="square">
            <a:spAutoFit/>
          </a:bodyPr>
          <a:lstStyle/>
          <a:p>
            <a:pPr>
              <a:defRPr sz="1400" b="1">
                <a:solidFill>
                  <a:srgbClr val="38BDF8"/>
                </a:solidFill>
              </a:defRPr>
            </a:pPr>
            <a:r>
              <a:t>🔬 Biosensor Model Training Initiative</a:t>
            </a:r>
          </a:p>
          <a:p>
            <a:pPr>
              <a:spcBef>
                <a:spcPts val="1400"/>
              </a:spcBef>
              <a:defRPr sz="4000" b="1">
                <a:solidFill>
                  <a:srgbClr val="F8FAFC"/>
                </a:solidFill>
              </a:defRPr>
            </a:pPr>
            <a:r>
              <a:t>100-Strain Bacterial Data Catalog</a:t>
            </a:r>
          </a:p>
          <a:p>
            <a:pPr>
              <a:spcBef>
                <a:spcPts val="1000"/>
              </a:spcBef>
              <a:defRPr sz="1800">
                <a:solidFill>
                  <a:srgbClr val="94A3B8"/>
                </a:solidFill>
              </a:defRPr>
            </a:pPr>
            <a:r>
              <a:t>Automated Data Extraction, Entity Resolution, Code Evolution, and Biosafety Compliance</a:t>
            </a:r>
          </a:p>
        </p:txBody>
      </p:sp>
      <p:sp>
        <p:nvSpPr>
          <p:cNvPr id="4" name="Rounded Rectangle 3"/>
          <p:cNvSpPr/>
          <p:nvPr/>
        </p:nvSpPr>
        <p:spPr>
          <a:xfrm>
            <a:off x="1097280" y="4389120"/>
            <a:ext cx="3108960" cy="1463040"/>
          </a:xfrm>
          <a:prstGeom prst="roundRect">
            <a:avLst/>
          </a:prstGeom>
          <a:solidFill>
            <a:srgbClr val="131B2E"/>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94A3B8"/>
                </a:solidFill>
              </a:defRPr>
            </a:pPr>
            <a:r>
              <a:t>CODE EVOLUTION</a:t>
            </a:r>
          </a:p>
          <a:p>
            <a:pPr>
              <a:spcBef>
                <a:spcPts val="800"/>
              </a:spcBef>
              <a:defRPr sz="1400" b="1">
                <a:solidFill>
                  <a:srgbClr val="F8FAFC"/>
                </a:solidFill>
              </a:defRPr>
            </a:pPr>
            <a:r>
              <a:t>4 Major GitHub Commit Iterations</a:t>
            </a:r>
          </a:p>
        </p:txBody>
      </p:sp>
      <p:sp>
        <p:nvSpPr>
          <p:cNvPr id="5" name="Rounded Rectangle 4"/>
          <p:cNvSpPr/>
          <p:nvPr/>
        </p:nvSpPr>
        <p:spPr>
          <a:xfrm>
            <a:off x="4480560" y="4389120"/>
            <a:ext cx="3108960" cy="1463040"/>
          </a:xfrm>
          <a:prstGeom prst="roundRect">
            <a:avLst/>
          </a:prstGeom>
          <a:solidFill>
            <a:srgbClr val="131B2E"/>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94A3B8"/>
                </a:solidFill>
              </a:defRPr>
            </a:pPr>
            <a:r>
              <a:t>PROJECT SCOPE</a:t>
            </a:r>
          </a:p>
          <a:p>
            <a:pPr>
              <a:spcBef>
                <a:spcPts val="800"/>
              </a:spcBef>
              <a:defRPr sz="1400" b="1">
                <a:solidFill>
                  <a:srgbClr val="F8FAFC"/>
                </a:solidFill>
              </a:defRPr>
            </a:pPr>
            <a:r>
              <a:t>100 Target Strains Cataloged</a:t>
            </a:r>
          </a:p>
        </p:txBody>
      </p:sp>
      <p:sp>
        <p:nvSpPr>
          <p:cNvPr id="6" name="Rounded Rectangle 5"/>
          <p:cNvSpPr/>
          <p:nvPr/>
        </p:nvSpPr>
        <p:spPr>
          <a:xfrm>
            <a:off x="7863840" y="4389120"/>
            <a:ext cx="3108960" cy="1463040"/>
          </a:xfrm>
          <a:prstGeom prst="roundRect">
            <a:avLst/>
          </a:prstGeom>
          <a:solidFill>
            <a:srgbClr val="131B2E"/>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94A3B8"/>
                </a:solidFill>
              </a:defRPr>
            </a:pPr>
            <a:r>
              <a:t>PRIMARY DELIVERABLE</a:t>
            </a:r>
          </a:p>
          <a:p>
            <a:pPr>
              <a:spcBef>
                <a:spcPts val="800"/>
              </a:spcBef>
              <a:defRPr sz="1400" b="1">
                <a:solidFill>
                  <a:srgbClr val="F8FAFC"/>
                </a:solidFill>
              </a:defRPr>
            </a:pPr>
            <a:r>
              <a:t>37-Column Populated Schema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Arial"/>
              </a:defRPr>
            </a:pPr>
            <a:r>
              <a:t>SLIDE 2 / 5 • CODE EVOLUTION &amp; GITHUB UPDATES</a:t>
            </a:r>
          </a:p>
        </p:txBody>
      </p:sp>
      <p:sp>
        <p:nvSpPr>
          <p:cNvPr id="4" name="TextBox 3"/>
          <p:cNvSpPr txBox="1"/>
          <p:nvPr/>
        </p:nvSpPr>
        <p:spPr>
          <a:xfrm>
            <a:off x="731520" y="685800"/>
            <a:ext cx="10698480" cy="731520"/>
          </a:xfrm>
          <a:prstGeom prst="rect">
            <a:avLst/>
          </a:prstGeom>
          <a:noFill/>
        </p:spPr>
        <p:txBody>
          <a:bodyPr wrap="square">
            <a:spAutoFit/>
          </a:bodyPr>
          <a:lstStyle/>
          <a:p>
            <a:pPr>
              <a:defRPr sz="2800" b="1">
                <a:solidFill>
                  <a:srgbClr val="F8FAFC"/>
                </a:solidFill>
                <a:latin typeface="Arial"/>
              </a:defRPr>
            </a:pPr>
            <a:r>
              <a:t>Code Development Milestones &amp; GitHub History</a:t>
            </a:r>
          </a:p>
        </p:txBody>
      </p:sp>
      <p:sp>
        <p:nvSpPr>
          <p:cNvPr id="5" name="TextBox 4"/>
          <p:cNvSpPr txBox="1"/>
          <p:nvPr/>
        </p:nvSpPr>
        <p:spPr>
          <a:xfrm>
            <a:off x="731520" y="1371600"/>
            <a:ext cx="10698480" cy="457200"/>
          </a:xfrm>
          <a:prstGeom prst="rect">
            <a:avLst/>
          </a:prstGeom>
          <a:noFill/>
        </p:spPr>
        <p:txBody>
          <a:bodyPr wrap="square">
            <a:spAutoFit/>
          </a:bodyPr>
          <a:lstStyle/>
          <a:p>
            <a:pPr>
              <a:defRPr sz="1400">
                <a:solidFill>
                  <a:srgbClr val="94A3B8"/>
                </a:solidFill>
                <a:latin typeface="Arial"/>
              </a:defRPr>
            </a:pPr>
            <a:r>
              <a:t>Key engineering iterations, codebase refactoring, and feature enhancements across the repository lifecycle.</a:t>
            </a:r>
          </a:p>
        </p:txBody>
      </p:sp>
      <p:sp>
        <p:nvSpPr>
          <p:cNvPr id="6" name="Rounded Rectangle 5"/>
          <p:cNvSpPr/>
          <p:nvPr/>
        </p:nvSpPr>
        <p:spPr>
          <a:xfrm>
            <a:off x="731520" y="2011680"/>
            <a:ext cx="5669280" cy="4297680"/>
          </a:xfrm>
          <a:prstGeom prst="roundRect">
            <a:avLst/>
          </a:prstGeom>
          <a:solidFill>
            <a:srgbClr val="131B2E"/>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 GITHUB DEVELOPMENT HISTORY</a:t>
            </a:r>
          </a:p>
          <a:p>
            <a:pPr>
              <a:spcBef>
                <a:spcPts val="800"/>
              </a:spcBef>
              <a:defRPr sz="1200" b="1">
                <a:solidFill>
                  <a:srgbClr val="F8FAFC"/>
                </a:solidFill>
              </a:defRPr>
            </a:pPr>
            <a:r>
              <a:t>• v1.0 — Initial Scraper &amp; Trial</a:t>
            </a:r>
          </a:p>
          <a:p>
            <a:pPr>
              <a:defRPr sz="1100">
                <a:solidFill>
                  <a:srgbClr val="94A3B8"/>
                </a:solidFill>
              </a:defRPr>
            </a:pPr>
            <a:r>
              <a:t>  Built atcc_scraper.py using urllib &amp; BS4. Conducted trial parsing on single-strain files.</a:t>
            </a:r>
          </a:p>
          <a:p>
            <a:pPr>
              <a:spcBef>
                <a:spcPts val="800"/>
              </a:spcBef>
              <a:defRPr sz="1200" b="1">
                <a:solidFill>
                  <a:srgbClr val="F8FAFC"/>
                </a:solidFill>
              </a:defRPr>
            </a:pPr>
            <a:r>
              <a:t>• v2.0 — 37-Column Script (atcc_scraper_Comp.py)</a:t>
            </a:r>
          </a:p>
          <a:p>
            <a:pPr>
              <a:defRPr sz="1100">
                <a:solidFill>
                  <a:srgbClr val="94A3B8"/>
                </a:solidFill>
              </a:defRPr>
            </a:pPr>
            <a:r>
              <a:t>  Scaled extraction to 37 metadata attributes, added ThreadPoolExecutor &amp; disk caching.</a:t>
            </a:r>
          </a:p>
          <a:p>
            <a:pPr>
              <a:spcBef>
                <a:spcPts val="800"/>
              </a:spcBef>
              <a:defRPr sz="1200" b="1">
                <a:solidFill>
                  <a:srgbClr val="F8FAFC"/>
                </a:solidFill>
              </a:defRPr>
            </a:pPr>
            <a:r>
              <a:t>• v2.5 — GenBank Link Transformation</a:t>
            </a:r>
          </a:p>
          <a:p>
            <a:pPr>
              <a:defRPr sz="1100">
                <a:solidFill>
                  <a:srgbClr val="94A3B8"/>
                </a:solidFill>
              </a:defRPr>
            </a:pPr>
            <a:r>
              <a:t>  Converted raw accession text into direct NCBI URLs (ncbi.nlm.nih.gov/nuccore/).</a:t>
            </a:r>
          </a:p>
          <a:p>
            <a:pPr>
              <a:spcBef>
                <a:spcPts val="800"/>
              </a:spcBef>
              <a:defRPr sz="1200" b="1">
                <a:solidFill>
                  <a:srgbClr val="F8FAFC"/>
                </a:solidFill>
              </a:defRPr>
            </a:pPr>
            <a:r>
              <a:t>• v3.0 — Scaling &amp; Dataset Expansion</a:t>
            </a:r>
          </a:p>
          <a:p>
            <a:pPr>
              <a:defRPr sz="1100">
                <a:solidFill>
                  <a:srgbClr val="94A3B8"/>
                </a:solidFill>
              </a:defRPr>
            </a:pPr>
            <a:r>
              <a:t>  Updated pipeline to process 148+ entries and refactored scripts for 200 Bug Project(FB).csv.</a:t>
            </a:r>
          </a:p>
        </p:txBody>
      </p:sp>
      <p:sp>
        <p:nvSpPr>
          <p:cNvPr id="7" name="Rounded Rectangle 6"/>
          <p:cNvSpPr/>
          <p:nvPr/>
        </p:nvSpPr>
        <p:spPr>
          <a:xfrm>
            <a:off x="6675120" y="2011680"/>
            <a:ext cx="2331720" cy="2057400"/>
          </a:xfrm>
          <a:prstGeom prst="roundRect">
            <a:avLst/>
          </a:prstGeom>
          <a:solidFill>
            <a:srgbClr val="131B2E"/>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4D399"/>
                </a:solidFill>
              </a:defRPr>
            </a:pPr>
            <a:r>
              <a:t>NBF Fallback Engine</a:t>
            </a:r>
          </a:p>
          <a:p>
            <a:pPr>
              <a:spcBef>
                <a:spcPts val="600"/>
              </a:spcBef>
              <a:defRPr sz="1000">
                <a:solidFill>
                  <a:srgbClr val="94A3B8"/>
                </a:solidFill>
              </a:defRPr>
            </a:pPr>
            <a:r>
              <a:t>Organism species lookup mapping (S. aureus ➔ ATCC 25923)</a:t>
            </a:r>
          </a:p>
        </p:txBody>
      </p:sp>
      <p:sp>
        <p:nvSpPr>
          <p:cNvPr id="8" name="Rounded Rectangle 7"/>
          <p:cNvSpPr/>
          <p:nvPr/>
        </p:nvSpPr>
        <p:spPr>
          <a:xfrm>
            <a:off x="9144000" y="2011680"/>
            <a:ext cx="2331720" cy="2057400"/>
          </a:xfrm>
          <a:prstGeom prst="roundRect">
            <a:avLst/>
          </a:prstGeom>
          <a:solidFill>
            <a:srgbClr val="131B2E"/>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GenBank API Links</a:t>
            </a:r>
          </a:p>
          <a:p>
            <a:pPr>
              <a:spcBef>
                <a:spcPts val="600"/>
              </a:spcBef>
              <a:defRPr sz="1000">
                <a:solidFill>
                  <a:srgbClr val="94A3B8"/>
                </a:solidFill>
              </a:defRPr>
            </a:pPr>
            <a:r>
              <a:t>Automatic regex parsing of raw text into NCBI REST URLs</a:t>
            </a:r>
          </a:p>
        </p:txBody>
      </p:sp>
      <p:sp>
        <p:nvSpPr>
          <p:cNvPr id="9" name="Rounded Rectangle 8"/>
          <p:cNvSpPr/>
          <p:nvPr/>
        </p:nvSpPr>
        <p:spPr>
          <a:xfrm>
            <a:off x="6675120" y="4251960"/>
            <a:ext cx="2331720" cy="2057400"/>
          </a:xfrm>
          <a:prstGeom prst="roundRect">
            <a:avLst/>
          </a:prstGeom>
          <a:solidFill>
            <a:srgbClr val="131B2E"/>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BBF24"/>
                </a:solidFill>
              </a:defRPr>
            </a:pPr>
            <a:r>
              <a:t>Cache Engine</a:t>
            </a:r>
          </a:p>
          <a:p>
            <a:pPr>
              <a:spcBef>
                <a:spcPts val="600"/>
              </a:spcBef>
              <a:defRPr sz="1000">
                <a:solidFill>
                  <a:srgbClr val="94A3B8"/>
                </a:solidFill>
              </a:defRPr>
            </a:pPr>
            <a:r>
              <a:t>Local HTML response caching for sub-second re-runs</a:t>
            </a:r>
          </a:p>
        </p:txBody>
      </p:sp>
      <p:sp>
        <p:nvSpPr>
          <p:cNvPr id="10" name="Rounded Rectangle 9"/>
          <p:cNvSpPr/>
          <p:nvPr/>
        </p:nvSpPr>
        <p:spPr>
          <a:xfrm>
            <a:off x="9144000" y="4251960"/>
            <a:ext cx="2331720" cy="2057400"/>
          </a:xfrm>
          <a:prstGeom prst="roundRect">
            <a:avLst/>
          </a:prstGeom>
          <a:solidFill>
            <a:srgbClr val="131B2E"/>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43F5E"/>
                </a:solidFill>
              </a:defRPr>
            </a:pPr>
            <a:r>
              <a:t>SSL Bypass</a:t>
            </a:r>
          </a:p>
          <a:p>
            <a:pPr>
              <a:spcBef>
                <a:spcPts val="600"/>
              </a:spcBef>
              <a:defRPr sz="1000">
                <a:solidFill>
                  <a:srgbClr val="94A3B8"/>
                </a:solidFill>
              </a:defRPr>
            </a:pPr>
            <a:r>
              <a:t>macOS local CA certificate validation fix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Arial"/>
              </a:defRPr>
            </a:pPr>
            <a:r>
              <a:t>SLIDE 3 / 5 • CS &amp; TECHNICAL ARCHITECTURE</a:t>
            </a:r>
          </a:p>
        </p:txBody>
      </p:sp>
      <p:sp>
        <p:nvSpPr>
          <p:cNvPr id="4" name="TextBox 3"/>
          <p:cNvSpPr txBox="1"/>
          <p:nvPr/>
        </p:nvSpPr>
        <p:spPr>
          <a:xfrm>
            <a:off x="731520" y="685800"/>
            <a:ext cx="10698480" cy="731520"/>
          </a:xfrm>
          <a:prstGeom prst="rect">
            <a:avLst/>
          </a:prstGeom>
          <a:noFill/>
        </p:spPr>
        <p:txBody>
          <a:bodyPr wrap="square">
            <a:spAutoFit/>
          </a:bodyPr>
          <a:lstStyle/>
          <a:p>
            <a:pPr>
              <a:defRPr sz="2800" b="1">
                <a:solidFill>
                  <a:srgbClr val="F8FAFC"/>
                </a:solidFill>
                <a:latin typeface="Arial"/>
              </a:defRPr>
            </a:pPr>
            <a:r>
              <a:t>Scraping Engine &amp; Entity Resolution</a:t>
            </a:r>
          </a:p>
        </p:txBody>
      </p:sp>
      <p:sp>
        <p:nvSpPr>
          <p:cNvPr id="5" name="TextBox 4"/>
          <p:cNvSpPr txBox="1"/>
          <p:nvPr/>
        </p:nvSpPr>
        <p:spPr>
          <a:xfrm>
            <a:off x="731520" y="1371600"/>
            <a:ext cx="10698480" cy="457200"/>
          </a:xfrm>
          <a:prstGeom prst="rect">
            <a:avLst/>
          </a:prstGeom>
          <a:noFill/>
        </p:spPr>
        <p:txBody>
          <a:bodyPr wrap="square">
            <a:spAutoFit/>
          </a:bodyPr>
          <a:lstStyle/>
          <a:p>
            <a:pPr>
              <a:defRPr sz="1400">
                <a:solidFill>
                  <a:srgbClr val="94A3B8"/>
                </a:solidFill>
                <a:latin typeface="Arial"/>
              </a:defRPr>
            </a:pPr>
            <a:r>
              <a:t>Algorithmic mapping of missing catalog identifiers, null value management, and building clean feature stores for ML models.</a:t>
            </a:r>
          </a:p>
        </p:txBody>
      </p:sp>
      <p:sp>
        <p:nvSpPr>
          <p:cNvPr id="6" name="Rounded Rectangle 5"/>
          <p:cNvSpPr/>
          <p:nvPr/>
        </p:nvSpPr>
        <p:spPr>
          <a:xfrm>
            <a:off x="731520" y="2011680"/>
            <a:ext cx="3383280" cy="2926080"/>
          </a:xfrm>
          <a:prstGeom prst="roundRect">
            <a:avLst/>
          </a:prstGeom>
          <a:solidFill>
            <a:srgbClr val="131B2E"/>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 Parallel Architecture</a:t>
            </a:r>
          </a:p>
          <a:p>
            <a:pPr>
              <a:spcBef>
                <a:spcPts val="1000"/>
              </a:spcBef>
              <a:defRPr sz="1100">
                <a:solidFill>
                  <a:srgbClr val="94A3B8"/>
                </a:solidFill>
              </a:defRPr>
            </a:pPr>
            <a:r>
              <a:t>Multithreaded fetching with disk caching keeps latency under 0.5 seconds while preventing server rate limiting.</a:t>
            </a:r>
          </a:p>
        </p:txBody>
      </p:sp>
      <p:sp>
        <p:nvSpPr>
          <p:cNvPr id="7" name="Rounded Rectangle 6"/>
          <p:cNvSpPr/>
          <p:nvPr/>
        </p:nvSpPr>
        <p:spPr>
          <a:xfrm>
            <a:off x="4343400" y="2011680"/>
            <a:ext cx="3383280" cy="2926080"/>
          </a:xfrm>
          <a:prstGeom prst="roundRect">
            <a:avLst/>
          </a:prstGeom>
          <a:solidFill>
            <a:srgbClr val="131B2E"/>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BBF24"/>
                </a:solidFill>
              </a:defRPr>
            </a:pPr>
            <a:r>
              <a:t>🔍 Taxonomic Entity Resolution</a:t>
            </a:r>
          </a:p>
          <a:p>
            <a:pPr>
              <a:spcBef>
                <a:spcPts val="1000"/>
              </a:spcBef>
              <a:defRPr sz="1100">
                <a:solidFill>
                  <a:srgbClr val="94A3B8"/>
                </a:solidFill>
              </a:defRPr>
            </a:pPr>
            <a:r>
              <a:t>Automated resolution of 'NBF' ('Not Being Found') species to primary ATCC reference catalog strains (e.g. S. aureus ➔ ATCC 25923).</a:t>
            </a:r>
          </a:p>
        </p:txBody>
      </p:sp>
      <p:sp>
        <p:nvSpPr>
          <p:cNvPr id="8" name="Rounded Rectangle 7"/>
          <p:cNvSpPr/>
          <p:nvPr/>
        </p:nvSpPr>
        <p:spPr>
          <a:xfrm>
            <a:off x="7955280" y="2011680"/>
            <a:ext cx="3383280" cy="2926080"/>
          </a:xfrm>
          <a:prstGeom prst="roundRect">
            <a:avLst/>
          </a:prstGeom>
          <a:solidFill>
            <a:srgbClr val="131B2E"/>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4D399"/>
                </a:solidFill>
              </a:defRPr>
            </a:pPr>
            <a:r>
              <a:t>🤖 37-Column Schema Output</a:t>
            </a:r>
          </a:p>
          <a:p>
            <a:pPr>
              <a:spcBef>
                <a:spcPts val="1000"/>
              </a:spcBef>
              <a:defRPr sz="1100">
                <a:solidFill>
                  <a:srgbClr val="94A3B8"/>
                </a:solidFill>
              </a:defRPr>
            </a:pPr>
            <a:r>
              <a:t>Generates a populated metadata catalog that acts as a structured feature store for biosensor machine learning models.</a:t>
            </a:r>
          </a:p>
        </p:txBody>
      </p:sp>
      <p:sp>
        <p:nvSpPr>
          <p:cNvPr id="9" name="Rounded Rectangle 8"/>
          <p:cNvSpPr/>
          <p:nvPr/>
        </p:nvSpPr>
        <p:spPr>
          <a:xfrm>
            <a:off x="731520" y="5166360"/>
            <a:ext cx="10698480" cy="1234440"/>
          </a:xfrm>
          <a:prstGeom prst="roundRect">
            <a:avLst/>
          </a:prstGeom>
          <a:solidFill>
            <a:srgbClr val="131B2E"/>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4D399"/>
                </a:solidFill>
              </a:defRPr>
            </a:pPr>
            <a:r>
              <a:t>🧠 Technical Engineering Impact</a:t>
            </a:r>
          </a:p>
          <a:p>
            <a:pPr>
              <a:spcBef>
                <a:spcPts val="400"/>
              </a:spcBef>
              <a:defRPr sz="1200">
                <a:solidFill>
                  <a:srgbClr val="F8FAFC"/>
                </a:solidFill>
              </a:defRPr>
            </a:pPr>
            <a:r>
              <a:t>Taxonomic entity resolution reduced catalog ambiguity from 22% in raw input to 0% in the final analytical dataset, ensuring clean join keys for machine learning model 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Arial"/>
              </a:defRPr>
            </a:pPr>
            <a:r>
              <a:t>SLIDE 4 / 5 • MICROBIOLOGICAL DOMAIN</a:t>
            </a:r>
          </a:p>
        </p:txBody>
      </p:sp>
      <p:sp>
        <p:nvSpPr>
          <p:cNvPr id="4" name="TextBox 3"/>
          <p:cNvSpPr txBox="1"/>
          <p:nvPr/>
        </p:nvSpPr>
        <p:spPr>
          <a:xfrm>
            <a:off x="731520" y="685800"/>
            <a:ext cx="10698480" cy="731520"/>
          </a:xfrm>
          <a:prstGeom prst="rect">
            <a:avLst/>
          </a:prstGeom>
          <a:noFill/>
        </p:spPr>
        <p:txBody>
          <a:bodyPr wrap="square">
            <a:spAutoFit/>
          </a:bodyPr>
          <a:lstStyle/>
          <a:p>
            <a:pPr>
              <a:defRPr sz="2800" b="1">
                <a:solidFill>
                  <a:srgbClr val="F8FAFC"/>
                </a:solidFill>
                <a:latin typeface="Arial"/>
              </a:defRPr>
            </a:pPr>
            <a:r>
              <a:t>Isolation Sources &amp; Ecological Provenance</a:t>
            </a:r>
          </a:p>
        </p:txBody>
      </p:sp>
      <p:sp>
        <p:nvSpPr>
          <p:cNvPr id="5" name="TextBox 4"/>
          <p:cNvSpPr txBox="1"/>
          <p:nvPr/>
        </p:nvSpPr>
        <p:spPr>
          <a:xfrm>
            <a:off x="731520" y="1371600"/>
            <a:ext cx="10698480" cy="457200"/>
          </a:xfrm>
          <a:prstGeom prst="rect">
            <a:avLst/>
          </a:prstGeom>
          <a:noFill/>
        </p:spPr>
        <p:txBody>
          <a:bodyPr wrap="square">
            <a:spAutoFit/>
          </a:bodyPr>
          <a:lstStyle/>
          <a:p>
            <a:pPr>
              <a:defRPr sz="1400">
                <a:solidFill>
                  <a:srgbClr val="94A3B8"/>
                </a:solidFill>
                <a:latin typeface="Arial"/>
              </a:defRPr>
            </a:pPr>
            <a:r>
              <a:t>Mapping isolation origins to establish sample diversity, target specificity, and real-world background matrix conditions for sensor testing.</a:t>
            </a:r>
          </a:p>
        </p:txBody>
      </p:sp>
      <p:sp>
        <p:nvSpPr>
          <p:cNvPr id="6" name="Rounded Rectangle 5"/>
          <p:cNvSpPr/>
          <p:nvPr/>
        </p:nvSpPr>
        <p:spPr>
          <a:xfrm>
            <a:off x="731520" y="2011680"/>
            <a:ext cx="3383280" cy="2926080"/>
          </a:xfrm>
          <a:prstGeom prst="roundRect">
            <a:avLst/>
          </a:prstGeom>
          <a:solidFill>
            <a:srgbClr val="131B2E"/>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43F5E"/>
                </a:solidFill>
              </a:defRPr>
            </a:pPr>
            <a:r>
              <a:t>🩸 Clinical &amp; Human Isolates</a:t>
            </a:r>
          </a:p>
          <a:p>
            <a:pPr>
              <a:spcBef>
                <a:spcPts val="1000"/>
              </a:spcBef>
              <a:defRPr sz="1100">
                <a:solidFill>
                  <a:srgbClr val="94A3B8"/>
                </a:solidFill>
              </a:defRPr>
            </a:pPr>
            <a:r>
              <a:t>Isolated from blood, sputum, wound exudates, and tissue. Critical for benchmarking sensor sensitivity on human clinical pathogens (e.g., S. aureus, K. pneumoniae).</a:t>
            </a:r>
          </a:p>
        </p:txBody>
      </p:sp>
      <p:sp>
        <p:nvSpPr>
          <p:cNvPr id="7" name="Rounded Rectangle 6"/>
          <p:cNvSpPr/>
          <p:nvPr/>
        </p:nvSpPr>
        <p:spPr>
          <a:xfrm>
            <a:off x="4343400" y="2011680"/>
            <a:ext cx="3383280" cy="2926080"/>
          </a:xfrm>
          <a:prstGeom prst="roundRect">
            <a:avLst/>
          </a:prstGeom>
          <a:solidFill>
            <a:srgbClr val="131B2E"/>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BBF24"/>
                </a:solidFill>
              </a:defRPr>
            </a:pPr>
            <a:r>
              <a:t>🐾 Veterinary Host Specimens</a:t>
            </a:r>
          </a:p>
          <a:p>
            <a:pPr>
              <a:spcBef>
                <a:spcPts val="1000"/>
              </a:spcBef>
              <a:defRPr sz="1100">
                <a:solidFill>
                  <a:srgbClr val="94A3B8"/>
                </a:solidFill>
              </a:defRPr>
            </a:pPr>
            <a:r>
              <a:t>Derived from animal host lesions and veterinary infections. Expands sensor target recognition across zoonotic vectors (e.g., Rhodococcus equi from foal lung abscess).</a:t>
            </a:r>
          </a:p>
        </p:txBody>
      </p:sp>
      <p:sp>
        <p:nvSpPr>
          <p:cNvPr id="8" name="Rounded Rectangle 7"/>
          <p:cNvSpPr/>
          <p:nvPr/>
        </p:nvSpPr>
        <p:spPr>
          <a:xfrm>
            <a:off x="7955280" y="2011680"/>
            <a:ext cx="3383280" cy="2926080"/>
          </a:xfrm>
          <a:prstGeom prst="roundRect">
            <a:avLst/>
          </a:prstGeom>
          <a:solidFill>
            <a:srgbClr val="131B2E"/>
          </a:solidFill>
          <a:ln>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4D399"/>
                </a:solidFill>
              </a:defRPr>
            </a:pPr>
            <a:r>
              <a:t>🌱 Environmental &amp; Sewage</a:t>
            </a:r>
          </a:p>
          <a:p>
            <a:pPr>
              <a:spcBef>
                <a:spcPts val="1000"/>
              </a:spcBef>
              <a:defRPr sz="1100">
                <a:solidFill>
                  <a:srgbClr val="94A3B8"/>
                </a:solidFill>
              </a:defRPr>
            </a:pPr>
            <a:r>
              <a:t>Sampled from soil, wastewater, and sludge. Essential for testing sensor cross-reactivity against background flora (e.g., Corynebacterium glutamicum).</a:t>
            </a:r>
          </a:p>
        </p:txBody>
      </p:sp>
      <p:sp>
        <p:nvSpPr>
          <p:cNvPr id="9" name="Rounded Rectangle 8"/>
          <p:cNvSpPr/>
          <p:nvPr/>
        </p:nvSpPr>
        <p:spPr>
          <a:xfrm>
            <a:off x="731520" y="5166360"/>
            <a:ext cx="10698480" cy="1234440"/>
          </a:xfrm>
          <a:prstGeom prst="roundRect">
            <a:avLst/>
          </a:prstGeom>
          <a:solidFill>
            <a:srgbClr val="131B2E"/>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8BDF8"/>
                </a:solidFill>
              </a:defRPr>
            </a:pPr>
            <a:r>
              <a:t>💡 Sensor Matrix Relevance</a:t>
            </a:r>
          </a:p>
          <a:p>
            <a:pPr>
              <a:spcBef>
                <a:spcPts val="400"/>
              </a:spcBef>
              <a:defRPr sz="1200">
                <a:solidFill>
                  <a:srgbClr val="F8FAFC"/>
                </a:solidFill>
              </a:defRPr>
            </a:pPr>
            <a:r>
              <a:t>Categorizing isolation origins directly guides sample preparation (e.g. blood lysate filtering vs. environmental water concentration) and prevents false-positive signals during field testing.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38BDF8"/>
                </a:solidFill>
                <a:latin typeface="Arial"/>
              </a:defRPr>
            </a:pPr>
            <a:r>
              <a:t>SLIDE 5 / 5 • SAFETY &amp; CULTURE PARAMETERS</a:t>
            </a:r>
          </a:p>
        </p:txBody>
      </p:sp>
      <p:sp>
        <p:nvSpPr>
          <p:cNvPr id="4" name="TextBox 3"/>
          <p:cNvSpPr txBox="1"/>
          <p:nvPr/>
        </p:nvSpPr>
        <p:spPr>
          <a:xfrm>
            <a:off x="731520" y="685800"/>
            <a:ext cx="10698480" cy="731520"/>
          </a:xfrm>
          <a:prstGeom prst="rect">
            <a:avLst/>
          </a:prstGeom>
          <a:noFill/>
        </p:spPr>
        <p:txBody>
          <a:bodyPr wrap="square">
            <a:spAutoFit/>
          </a:bodyPr>
          <a:lstStyle/>
          <a:p>
            <a:pPr>
              <a:defRPr sz="2800" b="1">
                <a:solidFill>
                  <a:srgbClr val="F8FAFC"/>
                </a:solidFill>
                <a:latin typeface="Arial"/>
              </a:defRPr>
            </a:pPr>
            <a:r>
              <a:t>Growth Dynamics, Biosafety &amp; Safety Data Sheets</a:t>
            </a:r>
          </a:p>
        </p:txBody>
      </p:sp>
      <p:sp>
        <p:nvSpPr>
          <p:cNvPr id="5" name="TextBox 4"/>
          <p:cNvSpPr txBox="1"/>
          <p:nvPr/>
        </p:nvSpPr>
        <p:spPr>
          <a:xfrm>
            <a:off x="731520" y="1371600"/>
            <a:ext cx="10698480" cy="457200"/>
          </a:xfrm>
          <a:prstGeom prst="rect">
            <a:avLst/>
          </a:prstGeom>
          <a:noFill/>
        </p:spPr>
        <p:txBody>
          <a:bodyPr wrap="square">
            <a:spAutoFit/>
          </a:bodyPr>
          <a:lstStyle/>
          <a:p>
            <a:pPr>
              <a:defRPr sz="1400">
                <a:solidFill>
                  <a:srgbClr val="94A3B8"/>
                </a:solidFill>
                <a:latin typeface="Arial"/>
              </a:defRPr>
            </a:pPr>
            <a:r>
              <a:t>Standardized culture growth requirements, biosafety containment levels, and direct REST API Safety Data Sheet integration.</a:t>
            </a:r>
          </a:p>
        </p:txBody>
      </p:sp>
      <p:sp>
        <p:nvSpPr>
          <p:cNvPr id="6" name="Rounded Rectangle 5"/>
          <p:cNvSpPr/>
          <p:nvPr/>
        </p:nvSpPr>
        <p:spPr>
          <a:xfrm>
            <a:off x="731520" y="2011680"/>
            <a:ext cx="5257800" cy="2011680"/>
          </a:xfrm>
          <a:prstGeom prst="roundRect">
            <a:avLst/>
          </a:prstGeom>
          <a:solidFill>
            <a:srgbClr val="131B2E"/>
          </a:solidFill>
          <a:ln>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BBF24"/>
                </a:solidFill>
              </a:defRPr>
            </a:pPr>
            <a:r>
              <a:t>🌡️ Growth Parameters &amp; Profiles</a:t>
            </a:r>
          </a:p>
          <a:p>
            <a:pPr>
              <a:spcBef>
                <a:spcPts val="600"/>
              </a:spcBef>
              <a:defRPr sz="1000">
                <a:solidFill>
                  <a:srgbClr val="94A3B8"/>
                </a:solidFill>
              </a:defRPr>
            </a:pPr>
            <a:r>
              <a:t>• Incubation Temp: 37°C clinical pathogen standard vs. 30°C environmental.</a:t>
            </a:r>
            <a:br/>
            <a:r>
              <a:t>• Culture Media: Trypticase Soy (#18/#260: 65%) and Brain Heart Infusion (#44: 20%).</a:t>
            </a:r>
            <a:br/>
            <a:r>
              <a:t>• Atmosphere: Aerobic (85%) vs. CO₂ / Microaerophilic (15%).</a:t>
            </a:r>
          </a:p>
        </p:txBody>
      </p:sp>
      <p:sp>
        <p:nvSpPr>
          <p:cNvPr id="7" name="Rounded Rectangle 6"/>
          <p:cNvSpPr/>
          <p:nvPr/>
        </p:nvSpPr>
        <p:spPr>
          <a:xfrm>
            <a:off x="6172200" y="2011680"/>
            <a:ext cx="5257800" cy="2011680"/>
          </a:xfrm>
          <a:prstGeom prst="roundRect">
            <a:avLst/>
          </a:prstGeom>
          <a:solidFill>
            <a:srgbClr val="131B2E"/>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 Biosafety Rating &amp; SDS API Links</a:t>
            </a:r>
          </a:p>
          <a:p>
            <a:pPr>
              <a:spcBef>
                <a:spcPts val="600"/>
              </a:spcBef>
              <a:defRPr sz="1000">
                <a:solidFill>
                  <a:srgbClr val="94A3B8"/>
                </a:solidFill>
              </a:defRPr>
            </a:pPr>
            <a:r>
              <a:t>• BSL-1 Rating: Low-risk control strains (E. avium, C. glutamicum) for open bench.</a:t>
            </a:r>
            <a:br/>
            <a:r>
              <a:t>• BSL-2 Rating: Clinical pathogens (S. aureus, R. equi) requiring bio-hood protocols.</a:t>
            </a:r>
            <a:br/>
            <a:r>
              <a:t>• Direct SDS API: Dynamic REST links (/api/product/sds?atcc_number=...) for instant hazard access.</a:t>
            </a:r>
          </a:p>
        </p:txBody>
      </p:sp>
      <p:graphicFrame>
        <p:nvGraphicFramePr>
          <p:cNvPr id="8" name="Table 7"/>
          <p:cNvGraphicFramePr>
            <a:graphicFrameLocks noGrp="1"/>
          </p:cNvGraphicFramePr>
          <p:nvPr/>
        </p:nvGraphicFramePr>
        <p:xfrm>
          <a:off x="731520" y="4206240"/>
          <a:ext cx="10698480" cy="2194560"/>
        </p:xfrm>
        <a:graphic>
          <a:graphicData uri="http://schemas.openxmlformats.org/drawingml/2006/table">
            <a:tbl>
              <a:tblPr firstRow="1" bandRow="1">
                <a:tableStyleId>{5C22544A-7EE6-4342-B048-85BDC9FD1C3A}</a:tableStyleId>
              </a:tblPr>
              <a:tblGrid>
                <a:gridCol w="1528354"/>
                <a:gridCol w="1528354"/>
                <a:gridCol w="1528354"/>
                <a:gridCol w="1528354"/>
                <a:gridCol w="1528354"/>
                <a:gridCol w="1528354"/>
                <a:gridCol w="1528356"/>
              </a:tblGrid>
              <a:tr h="438912">
                <a:tc>
                  <a:txBody>
                    <a:bodyPr/>
                    <a:lstStyle/>
                    <a:p>
                      <a:pPr>
                        <a:defRPr b="1" sz="1000">
                          <a:solidFill>
                            <a:srgbClr val="38BDF8"/>
                          </a:solidFill>
                        </a:defRPr>
                      </a:pPr>
                      <a:r>
                        <a:t>ATCC #</a:t>
                      </a:r>
                    </a:p>
                  </a:txBody>
                  <a:tcPr>
                    <a:solidFill>
                      <a:srgbClr val="1A253E"/>
                    </a:solidFill>
                  </a:tcPr>
                </a:tc>
                <a:tc>
                  <a:txBody>
                    <a:bodyPr/>
                    <a:lstStyle/>
                    <a:p>
                      <a:pPr>
                        <a:defRPr b="1" sz="1000">
                          <a:solidFill>
                            <a:srgbClr val="38BDF8"/>
                          </a:solidFill>
                        </a:defRPr>
                      </a:pPr>
                      <a:r>
                        <a:t>Organism Binomial</a:t>
                      </a:r>
                    </a:p>
                  </a:txBody>
                  <a:tcPr>
                    <a:solidFill>
                      <a:srgbClr val="1A253E"/>
                    </a:solidFill>
                  </a:tcPr>
                </a:tc>
                <a:tc>
                  <a:txBody>
                    <a:bodyPr/>
                    <a:lstStyle/>
                    <a:p>
                      <a:pPr>
                        <a:defRPr b="1" sz="1000">
                          <a:solidFill>
                            <a:srgbClr val="38BDF8"/>
                          </a:solidFill>
                        </a:defRPr>
                      </a:pPr>
                      <a:r>
                        <a:t>Isolation Source</a:t>
                      </a:r>
                    </a:p>
                  </a:txBody>
                  <a:tcPr>
                    <a:solidFill>
                      <a:srgbClr val="1A253E"/>
                    </a:solidFill>
                  </a:tcPr>
                </a:tc>
                <a:tc>
                  <a:txBody>
                    <a:bodyPr/>
                    <a:lstStyle/>
                    <a:p>
                      <a:pPr>
                        <a:defRPr b="1" sz="1000">
                          <a:solidFill>
                            <a:srgbClr val="38BDF8"/>
                          </a:solidFill>
                        </a:defRPr>
                      </a:pPr>
                      <a:r>
                        <a:t>Culture Medium</a:t>
                      </a:r>
                    </a:p>
                  </a:txBody>
                  <a:tcPr>
                    <a:solidFill>
                      <a:srgbClr val="1A253E"/>
                    </a:solidFill>
                  </a:tcPr>
                </a:tc>
                <a:tc>
                  <a:txBody>
                    <a:bodyPr/>
                    <a:lstStyle/>
                    <a:p>
                      <a:pPr>
                        <a:defRPr b="1" sz="1000">
                          <a:solidFill>
                            <a:srgbClr val="38BDF8"/>
                          </a:solidFill>
                        </a:defRPr>
                      </a:pPr>
                      <a:r>
                        <a:t>Temp</a:t>
                      </a:r>
                    </a:p>
                  </a:txBody>
                  <a:tcPr>
                    <a:solidFill>
                      <a:srgbClr val="1A253E"/>
                    </a:solidFill>
                  </a:tcPr>
                </a:tc>
                <a:tc>
                  <a:txBody>
                    <a:bodyPr/>
                    <a:lstStyle/>
                    <a:p>
                      <a:pPr>
                        <a:defRPr b="1" sz="1000">
                          <a:solidFill>
                            <a:srgbClr val="38BDF8"/>
                          </a:solidFill>
                        </a:defRPr>
                      </a:pPr>
                      <a:r>
                        <a:t>Atmosphere</a:t>
                      </a:r>
                    </a:p>
                  </a:txBody>
                  <a:tcPr>
                    <a:solidFill>
                      <a:srgbClr val="1A253E"/>
                    </a:solidFill>
                  </a:tcPr>
                </a:tc>
                <a:tc>
                  <a:txBody>
                    <a:bodyPr/>
                    <a:lstStyle/>
                    <a:p>
                      <a:pPr>
                        <a:defRPr b="1" sz="1000">
                          <a:solidFill>
                            <a:srgbClr val="38BDF8"/>
                          </a:solidFill>
                        </a:defRPr>
                      </a:pPr>
                      <a:r>
                        <a:t>BSL</a:t>
                      </a:r>
                    </a:p>
                  </a:txBody>
                  <a:tcPr>
                    <a:solidFill>
                      <a:srgbClr val="1A253E"/>
                    </a:solidFill>
                  </a:tcPr>
                </a:tc>
              </a:tr>
              <a:tr h="438912">
                <a:tc>
                  <a:txBody>
                    <a:bodyPr/>
                    <a:lstStyle/>
                    <a:p>
                      <a:pPr>
                        <a:defRPr sz="900">
                          <a:solidFill>
                            <a:srgbClr val="F8FAFC"/>
                          </a:solidFill>
                        </a:defRPr>
                      </a:pPr>
                      <a:r>
                        <a:t>ATCC 14025</a:t>
                      </a:r>
                    </a:p>
                  </a:txBody>
                  <a:tcPr>
                    <a:solidFill>
                      <a:srgbClr val="131B2E"/>
                    </a:solidFill>
                  </a:tcPr>
                </a:tc>
                <a:tc>
                  <a:txBody>
                    <a:bodyPr/>
                    <a:lstStyle/>
                    <a:p>
                      <a:pPr>
                        <a:defRPr sz="900">
                          <a:solidFill>
                            <a:srgbClr val="F8FAFC"/>
                          </a:solidFill>
                        </a:defRPr>
                      </a:pPr>
                      <a:r>
                        <a:t>Enterococcus avium</a:t>
                      </a:r>
                    </a:p>
                  </a:txBody>
                  <a:tcPr>
                    <a:solidFill>
                      <a:srgbClr val="131B2E"/>
                    </a:solidFill>
                  </a:tcPr>
                </a:tc>
                <a:tc>
                  <a:txBody>
                    <a:bodyPr/>
                    <a:lstStyle/>
                    <a:p>
                      <a:pPr>
                        <a:defRPr sz="900">
                          <a:solidFill>
                            <a:srgbClr val="F8FAFC"/>
                          </a:solidFill>
                        </a:defRPr>
                      </a:pPr>
                      <a:r>
                        <a:t>Quality Control Record</a:t>
                      </a:r>
                    </a:p>
                  </a:txBody>
                  <a:tcPr>
                    <a:solidFill>
                      <a:srgbClr val="131B2E"/>
                    </a:solidFill>
                  </a:tcPr>
                </a:tc>
                <a:tc>
                  <a:txBody>
                    <a:bodyPr/>
                    <a:lstStyle/>
                    <a:p>
                      <a:pPr>
                        <a:defRPr sz="900">
                          <a:solidFill>
                            <a:srgbClr val="F8FAFC"/>
                          </a:solidFill>
                        </a:defRPr>
                      </a:pPr>
                      <a:r>
                        <a:t>TSA w/ Sheep Blood (#260)</a:t>
                      </a:r>
                    </a:p>
                  </a:txBody>
                  <a:tcPr>
                    <a:solidFill>
                      <a:srgbClr val="131B2E"/>
                    </a:solidFill>
                  </a:tcPr>
                </a:tc>
                <a:tc>
                  <a:txBody>
                    <a:bodyPr/>
                    <a:lstStyle/>
                    <a:p>
                      <a:pPr>
                        <a:defRPr sz="900">
                          <a:solidFill>
                            <a:srgbClr val="F8FAFC"/>
                          </a:solidFill>
                        </a:defRPr>
                      </a:pPr>
                      <a:r>
                        <a:t>37°C</a:t>
                      </a:r>
                    </a:p>
                  </a:txBody>
                  <a:tcPr>
                    <a:solidFill>
                      <a:srgbClr val="131B2E"/>
                    </a:solidFill>
                  </a:tcPr>
                </a:tc>
                <a:tc>
                  <a:txBody>
                    <a:bodyPr/>
                    <a:lstStyle/>
                    <a:p>
                      <a:pPr>
                        <a:defRPr sz="900">
                          <a:solidFill>
                            <a:srgbClr val="F8FAFC"/>
                          </a:solidFill>
                        </a:defRPr>
                      </a:pPr>
                      <a:r>
                        <a:t>Aerobic</a:t>
                      </a:r>
                    </a:p>
                  </a:txBody>
                  <a:tcPr>
                    <a:solidFill>
                      <a:srgbClr val="131B2E"/>
                    </a:solidFill>
                  </a:tcPr>
                </a:tc>
                <a:tc>
                  <a:txBody>
                    <a:bodyPr/>
                    <a:lstStyle/>
                    <a:p>
                      <a:pPr>
                        <a:defRPr sz="900">
                          <a:solidFill>
                            <a:srgbClr val="F8FAFC"/>
                          </a:solidFill>
                        </a:defRPr>
                      </a:pPr>
                      <a:r>
                        <a:t>BSL 1</a:t>
                      </a:r>
                    </a:p>
                  </a:txBody>
                  <a:tcPr>
                    <a:solidFill>
                      <a:srgbClr val="131B2E"/>
                    </a:solidFill>
                  </a:tcPr>
                </a:tc>
              </a:tr>
              <a:tr h="438912">
                <a:tc>
                  <a:txBody>
                    <a:bodyPr/>
                    <a:lstStyle/>
                    <a:p>
                      <a:pPr>
                        <a:defRPr sz="900">
                          <a:solidFill>
                            <a:srgbClr val="F8FAFC"/>
                          </a:solidFill>
                        </a:defRPr>
                      </a:pPr>
                      <a:r>
                        <a:t>ATCC 8750</a:t>
                      </a:r>
                    </a:p>
                  </a:txBody>
                  <a:tcPr>
                    <a:solidFill>
                      <a:srgbClr val="131B2E"/>
                    </a:solidFill>
                  </a:tcPr>
                </a:tc>
                <a:tc>
                  <a:txBody>
                    <a:bodyPr/>
                    <a:lstStyle/>
                    <a:p>
                      <a:pPr>
                        <a:defRPr sz="900">
                          <a:solidFill>
                            <a:srgbClr val="F8FAFC"/>
                          </a:solidFill>
                        </a:defRPr>
                      </a:pPr>
                      <a:r>
                        <a:t>Alcaligenes faecalis</a:t>
                      </a:r>
                    </a:p>
                  </a:txBody>
                  <a:tcPr>
                    <a:solidFill>
                      <a:srgbClr val="131B2E"/>
                    </a:solidFill>
                  </a:tcPr>
                </a:tc>
                <a:tc>
                  <a:txBody>
                    <a:bodyPr/>
                    <a:lstStyle/>
                    <a:p>
                      <a:pPr>
                        <a:defRPr sz="900">
                          <a:solidFill>
                            <a:srgbClr val="F8FAFC"/>
                          </a:solidFill>
                        </a:defRPr>
                      </a:pPr>
                      <a:r>
                        <a:t>Preceptrol Culture</a:t>
                      </a:r>
                    </a:p>
                  </a:txBody>
                  <a:tcPr>
                    <a:solidFill>
                      <a:srgbClr val="131B2E"/>
                    </a:solidFill>
                  </a:tcPr>
                </a:tc>
                <a:tc>
                  <a:txBody>
                    <a:bodyPr/>
                    <a:lstStyle/>
                    <a:p>
                      <a:pPr>
                        <a:defRPr sz="900">
                          <a:solidFill>
                            <a:srgbClr val="F8FAFC"/>
                          </a:solidFill>
                        </a:defRPr>
                      </a:pPr>
                      <a:r>
                        <a:t>Trypticase Soy (#18)</a:t>
                      </a:r>
                    </a:p>
                  </a:txBody>
                  <a:tcPr>
                    <a:solidFill>
                      <a:srgbClr val="131B2E"/>
                    </a:solidFill>
                  </a:tcPr>
                </a:tc>
                <a:tc>
                  <a:txBody>
                    <a:bodyPr/>
                    <a:lstStyle/>
                    <a:p>
                      <a:pPr>
                        <a:defRPr sz="900">
                          <a:solidFill>
                            <a:srgbClr val="F8FAFC"/>
                          </a:solidFill>
                        </a:defRPr>
                      </a:pPr>
                      <a:r>
                        <a:t>37°C</a:t>
                      </a:r>
                    </a:p>
                  </a:txBody>
                  <a:tcPr>
                    <a:solidFill>
                      <a:srgbClr val="131B2E"/>
                    </a:solidFill>
                  </a:tcPr>
                </a:tc>
                <a:tc>
                  <a:txBody>
                    <a:bodyPr/>
                    <a:lstStyle/>
                    <a:p>
                      <a:pPr>
                        <a:defRPr sz="900">
                          <a:solidFill>
                            <a:srgbClr val="F8FAFC"/>
                          </a:solidFill>
                        </a:defRPr>
                      </a:pPr>
                      <a:r>
                        <a:t>Aerobic</a:t>
                      </a:r>
                    </a:p>
                  </a:txBody>
                  <a:tcPr>
                    <a:solidFill>
                      <a:srgbClr val="131B2E"/>
                    </a:solidFill>
                  </a:tcPr>
                </a:tc>
                <a:tc>
                  <a:txBody>
                    <a:bodyPr/>
                    <a:lstStyle/>
                    <a:p>
                      <a:pPr>
                        <a:defRPr sz="900">
                          <a:solidFill>
                            <a:srgbClr val="F8FAFC"/>
                          </a:solidFill>
                        </a:defRPr>
                      </a:pPr>
                      <a:r>
                        <a:t>BSL 1</a:t>
                      </a:r>
                    </a:p>
                  </a:txBody>
                  <a:tcPr>
                    <a:solidFill>
                      <a:srgbClr val="131B2E"/>
                    </a:solidFill>
                  </a:tcPr>
                </a:tc>
              </a:tr>
              <a:tr h="438912">
                <a:tc>
                  <a:txBody>
                    <a:bodyPr/>
                    <a:lstStyle/>
                    <a:p>
                      <a:pPr>
                        <a:defRPr sz="900">
                          <a:solidFill>
                            <a:srgbClr val="F8FAFC"/>
                          </a:solidFill>
                        </a:defRPr>
                      </a:pPr>
                      <a:r>
                        <a:t>ATCC 6939</a:t>
                      </a:r>
                    </a:p>
                  </a:txBody>
                  <a:tcPr>
                    <a:solidFill>
                      <a:srgbClr val="131B2E"/>
                    </a:solidFill>
                  </a:tcPr>
                </a:tc>
                <a:tc>
                  <a:txBody>
                    <a:bodyPr/>
                    <a:lstStyle/>
                    <a:p>
                      <a:pPr>
                        <a:defRPr sz="900">
                          <a:solidFill>
                            <a:srgbClr val="F8FAFC"/>
                          </a:solidFill>
                        </a:defRPr>
                      </a:pPr>
                      <a:r>
                        <a:t>Rhodococcus equi</a:t>
                      </a:r>
                    </a:p>
                  </a:txBody>
                  <a:tcPr>
                    <a:solidFill>
                      <a:srgbClr val="131B2E"/>
                    </a:solidFill>
                  </a:tcPr>
                </a:tc>
                <a:tc>
                  <a:txBody>
                    <a:bodyPr/>
                    <a:lstStyle/>
                    <a:p>
                      <a:pPr>
                        <a:defRPr sz="900">
                          <a:solidFill>
                            <a:srgbClr val="F8FAFC"/>
                          </a:solidFill>
                        </a:defRPr>
                      </a:pPr>
                      <a:r>
                        <a:t>Foal Lung Abscess</a:t>
                      </a:r>
                    </a:p>
                  </a:txBody>
                  <a:tcPr>
                    <a:solidFill>
                      <a:srgbClr val="131B2E"/>
                    </a:solidFill>
                  </a:tcPr>
                </a:tc>
                <a:tc>
                  <a:txBody>
                    <a:bodyPr/>
                    <a:lstStyle/>
                    <a:p>
                      <a:pPr>
                        <a:defRPr sz="900">
                          <a:solidFill>
                            <a:srgbClr val="F8FAFC"/>
                          </a:solidFill>
                        </a:defRPr>
                      </a:pPr>
                      <a:r>
                        <a:t>Brain Heart Infusion (#44)</a:t>
                      </a:r>
                    </a:p>
                  </a:txBody>
                  <a:tcPr>
                    <a:solidFill>
                      <a:srgbClr val="131B2E"/>
                    </a:solidFill>
                  </a:tcPr>
                </a:tc>
                <a:tc>
                  <a:txBody>
                    <a:bodyPr/>
                    <a:lstStyle/>
                    <a:p>
                      <a:pPr>
                        <a:defRPr sz="900">
                          <a:solidFill>
                            <a:srgbClr val="F8FAFC"/>
                          </a:solidFill>
                        </a:defRPr>
                      </a:pPr>
                      <a:r>
                        <a:t>37°C</a:t>
                      </a:r>
                    </a:p>
                  </a:txBody>
                  <a:tcPr>
                    <a:solidFill>
                      <a:srgbClr val="131B2E"/>
                    </a:solidFill>
                  </a:tcPr>
                </a:tc>
                <a:tc>
                  <a:txBody>
                    <a:bodyPr/>
                    <a:lstStyle/>
                    <a:p>
                      <a:pPr>
                        <a:defRPr sz="900">
                          <a:solidFill>
                            <a:srgbClr val="F8FAFC"/>
                          </a:solidFill>
                        </a:defRPr>
                      </a:pPr>
                      <a:r>
                        <a:t>Aerobic</a:t>
                      </a:r>
                    </a:p>
                  </a:txBody>
                  <a:tcPr>
                    <a:solidFill>
                      <a:srgbClr val="131B2E"/>
                    </a:solidFill>
                  </a:tcPr>
                </a:tc>
                <a:tc>
                  <a:txBody>
                    <a:bodyPr/>
                    <a:lstStyle/>
                    <a:p>
                      <a:pPr>
                        <a:defRPr sz="900">
                          <a:solidFill>
                            <a:srgbClr val="F8FAFC"/>
                          </a:solidFill>
                        </a:defRPr>
                      </a:pPr>
                      <a:r>
                        <a:t>BSL 2</a:t>
                      </a:r>
                    </a:p>
                  </a:txBody>
                  <a:tcPr>
                    <a:solidFill>
                      <a:srgbClr val="131B2E"/>
                    </a:solidFill>
                  </a:tcPr>
                </a:tc>
              </a:tr>
              <a:tr h="438912">
                <a:tc>
                  <a:txBody>
                    <a:bodyPr/>
                    <a:lstStyle/>
                    <a:p>
                      <a:pPr>
                        <a:defRPr sz="900">
                          <a:solidFill>
                            <a:srgbClr val="F8FAFC"/>
                          </a:solidFill>
                        </a:defRPr>
                      </a:pPr>
                      <a:r>
                        <a:t>ATCC 13032</a:t>
                      </a:r>
                    </a:p>
                  </a:txBody>
                  <a:tcPr>
                    <a:solidFill>
                      <a:srgbClr val="131B2E"/>
                    </a:solidFill>
                  </a:tcPr>
                </a:tc>
                <a:tc>
                  <a:txBody>
                    <a:bodyPr/>
                    <a:lstStyle/>
                    <a:p>
                      <a:pPr>
                        <a:defRPr sz="900">
                          <a:solidFill>
                            <a:srgbClr val="F8FAFC"/>
                          </a:solidFill>
                        </a:defRPr>
                      </a:pPr>
                      <a:r>
                        <a:t>Corynebacterium glutamicum</a:t>
                      </a:r>
                    </a:p>
                  </a:txBody>
                  <a:tcPr>
                    <a:solidFill>
                      <a:srgbClr val="131B2E"/>
                    </a:solidFill>
                  </a:tcPr>
                </a:tc>
                <a:tc>
                  <a:txBody>
                    <a:bodyPr/>
                    <a:lstStyle/>
                    <a:p>
                      <a:pPr>
                        <a:defRPr sz="900">
                          <a:solidFill>
                            <a:srgbClr val="F8FAFC"/>
                          </a:solidFill>
                        </a:defRPr>
                      </a:pPr>
                      <a:r>
                        <a:t>Sewage / Wastewater</a:t>
                      </a:r>
                    </a:p>
                  </a:txBody>
                  <a:tcPr>
                    <a:solidFill>
                      <a:srgbClr val="131B2E"/>
                    </a:solidFill>
                  </a:tcPr>
                </a:tc>
                <a:tc>
                  <a:txBody>
                    <a:bodyPr/>
                    <a:lstStyle/>
                    <a:p>
                      <a:pPr>
                        <a:defRPr sz="900">
                          <a:solidFill>
                            <a:srgbClr val="F8FAFC"/>
                          </a:solidFill>
                        </a:defRPr>
                      </a:pPr>
                      <a:r>
                        <a:t>Nutrient Agar (#3)</a:t>
                      </a:r>
                    </a:p>
                  </a:txBody>
                  <a:tcPr>
                    <a:solidFill>
                      <a:srgbClr val="131B2E"/>
                    </a:solidFill>
                  </a:tcPr>
                </a:tc>
                <a:tc>
                  <a:txBody>
                    <a:bodyPr/>
                    <a:lstStyle/>
                    <a:p>
                      <a:pPr>
                        <a:defRPr sz="900">
                          <a:solidFill>
                            <a:srgbClr val="F8FAFC"/>
                          </a:solidFill>
                        </a:defRPr>
                      </a:pPr>
                      <a:r>
                        <a:t>37°C</a:t>
                      </a:r>
                    </a:p>
                  </a:txBody>
                  <a:tcPr>
                    <a:solidFill>
                      <a:srgbClr val="131B2E"/>
                    </a:solidFill>
                  </a:tcPr>
                </a:tc>
                <a:tc>
                  <a:txBody>
                    <a:bodyPr/>
                    <a:lstStyle/>
                    <a:p>
                      <a:pPr>
                        <a:defRPr sz="900">
                          <a:solidFill>
                            <a:srgbClr val="F8FAFC"/>
                          </a:solidFill>
                        </a:defRPr>
                      </a:pPr>
                      <a:r>
                        <a:t>Aerobic</a:t>
                      </a:r>
                    </a:p>
                  </a:txBody>
                  <a:tcPr>
                    <a:solidFill>
                      <a:srgbClr val="131B2E"/>
                    </a:solidFill>
                  </a:tcPr>
                </a:tc>
                <a:tc>
                  <a:txBody>
                    <a:bodyPr/>
                    <a:lstStyle/>
                    <a:p>
                      <a:pPr>
                        <a:defRPr sz="900">
                          <a:solidFill>
                            <a:srgbClr val="F8FAFC"/>
                          </a:solidFill>
                        </a:defRPr>
                      </a:pPr>
                      <a:r>
                        <a:t>BSL 1</a:t>
                      </a:r>
                    </a:p>
                  </a:txBody>
                  <a:tcPr>
                    <a:solidFill>
                      <a:srgbClr val="131B2E"/>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